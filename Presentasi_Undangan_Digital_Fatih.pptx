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Assalamualaikum Wr. Wb. Perkenalkan saya Fatih Aditama Anwar. Hari ini saya akan mempresentasikan proyek website Undangan Pernikahan Digital yang sudah saya buat.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Website ini adalah undangan pernikahan dalam bentuk halaman web. Tamu tinggal klik link di WhatsApp, langsung terbuka di HP tanpa perlu install aplikasi apapun.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Teknologi yang dipakai semuanya native atau murni, tanpa framework berat. HTML untuk struktur, CSS untuk tampilan, JavaScript untuk interaksi, dan PHP sebagai server lokal.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adalah alur dari website undangan saya. Dimulai dari tamu klik link di WhatsApp, lalu muncul sampul dengan nama tamu, klik buka undangan, musik menyala, lalu tamu bisa scroll melihat semua isi undangan dari Hero sampai Penutup.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Website ini punya banyak fitur: nama tamu otomatis, musik latar, countdown, dark mode, salin rekening sekali klik, dan peta lokasi Google Maps.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Cara menjalankannya sangat mudah. Tinggal klik dua kali file start.bat, lalu buka browser di localhost:3000. Tidak perlu install Node.js karena kita pakai PHP native.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Demikian presentasi dari saya. Website ini dibuat pakai HTML, CSS, JavaScript, dan PHP native. Semuanya ringan tanpa framework berat. Terima kasih, silakan jika ada pertanyaan.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F4E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28800" y="1097280"/>
            <a:ext cx="8534095" cy="4663440"/>
          </a:xfrm>
          <a:prstGeom prst="roundRect">
            <a:avLst/>
          </a:prstGeom>
          <a:solidFill>
            <a:srgbClr val="202A22"/>
          </a:solidFill>
          <a:ln w="25400">
            <a:solidFill>
              <a:srgbClr val="C2A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0" y="1463040"/>
            <a:ext cx="7619695" cy="3931920"/>
          </a:xfrm>
          <a:prstGeom prst="rect">
            <a:avLst/>
          </a:prstGeom>
          <a:noFill/>
        </p:spPr>
        <p:txBody>
          <a:bodyPr wrap="square">
            <a:spAutoFit/>
          </a:bodyPr>
          <a:lstStyle/>
          <a:p>
            <a:pPr algn="ctr">
              <a:defRPr sz="1100" b="1">
                <a:solidFill>
                  <a:srgbClr val="C2A676"/>
                </a:solidFill>
              </a:defRPr>
            </a:pPr>
            <a:r>
              <a:t>PRESENTASI PROYEK</a:t>
            </a:r>
          </a:p>
          <a:p>
            <a:pPr algn="ctr">
              <a:spcBef>
                <a:spcPts val="1000"/>
              </a:spcBef>
              <a:spcAft>
                <a:spcPts val="600"/>
              </a:spcAft>
              <a:defRPr sz="3000" b="1">
                <a:solidFill>
                  <a:srgbClr val="FFFFFF"/>
                </a:solidFill>
              </a:defRPr>
            </a:pPr>
            <a:r>
              <a:t>THE WEDDING OF WIRA &amp; NEERA</a:t>
            </a:r>
          </a:p>
          <a:p>
            <a:pPr algn="ctr">
              <a:spcAft>
                <a:spcPts val="3000"/>
              </a:spcAft>
              <a:defRPr sz="1500">
                <a:solidFill>
                  <a:srgbClr val="C8D2CA"/>
                </a:solidFill>
              </a:defRPr>
            </a:pPr>
            <a:r>
              <a:t>Website Undangan Pernikahan Digital</a:t>
            </a:r>
          </a:p>
          <a:p>
            <a:pPr algn="ctr">
              <a:spcAft>
                <a:spcPts val="400"/>
              </a:spcAft>
              <a:defRPr sz="1400" b="1">
                <a:solidFill>
                  <a:srgbClr val="C2A676"/>
                </a:solidFill>
              </a:defRPr>
            </a:pPr>
            <a:r>
              <a:t>Disusun Oleh: FATIH ADITAMA ANWAR</a:t>
            </a:r>
          </a:p>
          <a:p>
            <a:pPr algn="ctr">
              <a:defRPr sz="1200">
                <a:solidFill>
                  <a:srgbClr val="AAB9AD"/>
                </a:solidFill>
              </a:defRPr>
            </a:pPr>
            <a:r>
              <a:t>SMK Bhakti Wiyata Kota Kediri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lgn="l">
              <a:defRPr sz="1100" b="1">
                <a:solidFill>
                  <a:srgbClr val="C2A676"/>
                </a:solidFill>
              </a:defRPr>
            </a:pPr>
            <a:r>
              <a:t>PENDAHULUAN</a:t>
            </a:r>
          </a:p>
        </p:txBody>
      </p:sp>
      <p:sp>
        <p:nvSpPr>
          <p:cNvPr id="4" name="TextBox 3"/>
          <p:cNvSpPr txBox="1"/>
          <p:nvPr/>
        </p:nvSpPr>
        <p:spPr>
          <a:xfrm>
            <a:off x="731520" y="777240"/>
            <a:ext cx="10698480" cy="640080"/>
          </a:xfrm>
          <a:prstGeom prst="rect">
            <a:avLst/>
          </a:prstGeom>
          <a:noFill/>
        </p:spPr>
        <p:txBody>
          <a:bodyPr wrap="square">
            <a:spAutoFit/>
          </a:bodyPr>
          <a:lstStyle/>
          <a:p>
            <a:pPr algn="l">
              <a:defRPr sz="2400" b="1">
                <a:solidFill>
                  <a:srgbClr val="3F4E41"/>
                </a:solidFill>
              </a:defRPr>
            </a:pPr>
            <a:r>
              <a:t>Apa Itu Website Undangan Digital?</a:t>
            </a:r>
          </a:p>
        </p:txBody>
      </p:sp>
      <p:sp>
        <p:nvSpPr>
          <p:cNvPr id="5" name="Rounded Rectangle 4"/>
          <p:cNvSpPr/>
          <p:nvPr/>
        </p:nvSpPr>
        <p:spPr>
          <a:xfrm>
            <a:off x="731520" y="1645920"/>
            <a:ext cx="5120640" cy="4572000"/>
          </a:xfrm>
          <a:prstGeom prst="roundRect">
            <a:avLst/>
          </a:prstGeom>
          <a:solidFill>
            <a:srgbClr val="FFFFFF"/>
          </a:solidFill>
          <a:ln w="19050">
            <a:solidFill>
              <a:srgbClr val="DC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74519"/>
            <a:ext cx="4572000" cy="4114800"/>
          </a:xfrm>
          <a:prstGeom prst="rect">
            <a:avLst/>
          </a:prstGeom>
          <a:noFill/>
        </p:spPr>
        <p:txBody>
          <a:bodyPr wrap="square">
            <a:spAutoFit/>
          </a:bodyPr>
          <a:lstStyle/>
          <a:p>
            <a:pPr>
              <a:spcAft>
                <a:spcPts val="1000"/>
              </a:spcAft>
              <a:defRPr sz="1500" b="1">
                <a:solidFill>
                  <a:srgbClr val="3F4E41"/>
                </a:solidFill>
              </a:defRPr>
            </a:pPr>
            <a:r>
              <a:t>Penjelasan Singkat</a:t>
            </a:r>
          </a:p>
          <a:p>
            <a:pPr>
              <a:spcAft>
                <a:spcPts val="600"/>
              </a:spcAft>
              <a:defRPr sz="1200">
                <a:solidFill>
                  <a:srgbClr val="1C2420"/>
                </a:solidFill>
              </a:defRPr>
            </a:pPr>
            <a:r>
              <a:t>Website ini adalah undangan pernikahan berbentuk halaman web yang bisa dibuka lewat HP atau laptop.</a:t>
            </a:r>
          </a:p>
          <a:p>
            <a:pPr>
              <a:spcAft>
                <a:spcPts val="600"/>
              </a:spcAft>
              <a:defRPr sz="1200">
                <a:solidFill>
                  <a:srgbClr val="1C2420"/>
                </a:solidFill>
              </a:defRPr>
            </a:pPr>
          </a:p>
          <a:p>
            <a:pPr>
              <a:spcAft>
                <a:spcPts val="600"/>
              </a:spcAft>
              <a:defRPr sz="1200">
                <a:solidFill>
                  <a:srgbClr val="1C2420"/>
                </a:solidFill>
              </a:defRPr>
            </a:pPr>
            <a:r>
              <a:t>Tamu cukup klik link yang dikirim via WhatsApp, lalu langsung bisa melihat info acara, lokasi, dan lainnya.</a:t>
            </a:r>
          </a:p>
          <a:p>
            <a:pPr>
              <a:spcAft>
                <a:spcPts val="600"/>
              </a:spcAft>
              <a:defRPr sz="1200">
                <a:solidFill>
                  <a:srgbClr val="1C2420"/>
                </a:solidFill>
              </a:defRPr>
            </a:pPr>
          </a:p>
          <a:p>
            <a:pPr>
              <a:spcAft>
                <a:spcPts val="600"/>
              </a:spcAft>
              <a:defRPr sz="1200">
                <a:solidFill>
                  <a:srgbClr val="1C2420"/>
                </a:solidFill>
              </a:defRPr>
            </a:pPr>
            <a:r>
              <a:t>Tidak perlu install aplikasi apapun, cukup buka di browser (Chrome, Safari, dll).</a:t>
            </a:r>
          </a:p>
        </p:txBody>
      </p:sp>
      <p:sp>
        <p:nvSpPr>
          <p:cNvPr id="7" name="Rounded Rectangle 6"/>
          <p:cNvSpPr/>
          <p:nvPr/>
        </p:nvSpPr>
        <p:spPr>
          <a:xfrm>
            <a:off x="6217920" y="1645920"/>
            <a:ext cx="5212080" cy="4572000"/>
          </a:xfrm>
          <a:prstGeom prst="roundRect">
            <a:avLst/>
          </a:prstGeom>
          <a:solidFill>
            <a:srgbClr val="FFFFFF"/>
          </a:solidFill>
          <a:ln w="19050">
            <a:solidFill>
              <a:srgbClr val="DC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74519"/>
            <a:ext cx="4663440" cy="4114800"/>
          </a:xfrm>
          <a:prstGeom prst="rect">
            <a:avLst/>
          </a:prstGeom>
          <a:noFill/>
        </p:spPr>
        <p:txBody>
          <a:bodyPr wrap="square">
            <a:spAutoFit/>
          </a:bodyPr>
          <a:lstStyle/>
          <a:p>
            <a:pPr>
              <a:spcAft>
                <a:spcPts val="1000"/>
              </a:spcAft>
              <a:defRPr sz="1500" b="1">
                <a:solidFill>
                  <a:srgbClr val="3F4E41"/>
                </a:solidFill>
              </a:defRPr>
            </a:pPr>
            <a:r>
              <a:t>Kenapa Dibuat Digital?</a:t>
            </a:r>
          </a:p>
          <a:p>
            <a:pPr>
              <a:spcAft>
                <a:spcPts val="600"/>
              </a:spcAft>
              <a:defRPr sz="1200">
                <a:solidFill>
                  <a:srgbClr val="1C2420"/>
                </a:solidFill>
              </a:defRPr>
            </a:pPr>
            <a:r>
              <a:t>• Hemat biaya cetak undangan fisik.</a:t>
            </a:r>
          </a:p>
          <a:p>
            <a:pPr>
              <a:spcAft>
                <a:spcPts val="600"/>
              </a:spcAft>
              <a:defRPr sz="1200">
                <a:solidFill>
                  <a:srgbClr val="1C2420"/>
                </a:solidFill>
              </a:defRPr>
            </a:pPr>
            <a:r>
              <a:t>• Bisa langsung dibagikan lewat WA ke banyak orang.</a:t>
            </a:r>
          </a:p>
          <a:p>
            <a:pPr>
              <a:spcAft>
                <a:spcPts val="600"/>
              </a:spcAft>
              <a:defRPr sz="1200">
                <a:solidFill>
                  <a:srgbClr val="1C2420"/>
                </a:solidFill>
              </a:defRPr>
            </a:pPr>
            <a:r>
              <a:t>• Ada fitur interaktif (musik, peta, countdown).</a:t>
            </a:r>
          </a:p>
          <a:p>
            <a:pPr>
              <a:spcAft>
                <a:spcPts val="600"/>
              </a:spcAft>
              <a:defRPr sz="1200">
                <a:solidFill>
                  <a:srgbClr val="1C2420"/>
                </a:solidFill>
              </a:defRPr>
            </a:pPr>
            <a:r>
              <a:t>• Nama tamu otomatis muncul di sampul undangan.</a:t>
            </a:r>
          </a:p>
          <a:p>
            <a:pPr>
              <a:spcAft>
                <a:spcPts val="600"/>
              </a:spcAft>
              <a:defRPr sz="1200">
                <a:solidFill>
                  <a:srgbClr val="1C2420"/>
                </a:solidFill>
              </a:defRPr>
            </a:pPr>
            <a:r>
              <a:t>• Ramah lingkungan (tanpa kertas).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lgn="l">
              <a:defRPr sz="1100" b="1">
                <a:solidFill>
                  <a:srgbClr val="C2A676"/>
                </a:solidFill>
              </a:defRPr>
            </a:pPr>
            <a:r>
              <a:t>TEKNOLOGI</a:t>
            </a:r>
          </a:p>
        </p:txBody>
      </p:sp>
      <p:sp>
        <p:nvSpPr>
          <p:cNvPr id="4" name="TextBox 3"/>
          <p:cNvSpPr txBox="1"/>
          <p:nvPr/>
        </p:nvSpPr>
        <p:spPr>
          <a:xfrm>
            <a:off x="731520" y="777240"/>
            <a:ext cx="10698480" cy="640080"/>
          </a:xfrm>
          <a:prstGeom prst="rect">
            <a:avLst/>
          </a:prstGeom>
          <a:noFill/>
        </p:spPr>
        <p:txBody>
          <a:bodyPr wrap="square">
            <a:spAutoFit/>
          </a:bodyPr>
          <a:lstStyle/>
          <a:p>
            <a:pPr algn="l">
              <a:defRPr sz="2400" b="1">
                <a:solidFill>
                  <a:srgbClr val="3F4E41"/>
                </a:solidFill>
              </a:defRPr>
            </a:pPr>
            <a:r>
              <a:t>Apa Saja yang Dipakai?</a:t>
            </a:r>
          </a:p>
        </p:txBody>
      </p:sp>
      <p:sp>
        <p:nvSpPr>
          <p:cNvPr id="5" name="Rounded Rectangle 4"/>
          <p:cNvSpPr/>
          <p:nvPr/>
        </p:nvSpPr>
        <p:spPr>
          <a:xfrm>
            <a:off x="731520" y="1645920"/>
            <a:ext cx="2468880" cy="4572000"/>
          </a:xfrm>
          <a:prstGeom prst="roundRect">
            <a:avLst/>
          </a:prstGeom>
          <a:solidFill>
            <a:srgbClr val="FFFFFF"/>
          </a:solidFill>
          <a:ln w="19050">
            <a:solidFill>
              <a:srgbClr val="DC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74519"/>
            <a:ext cx="1920240" cy="4114800"/>
          </a:xfrm>
          <a:prstGeom prst="rect">
            <a:avLst/>
          </a:prstGeom>
          <a:noFill/>
        </p:spPr>
        <p:txBody>
          <a:bodyPr wrap="square">
            <a:spAutoFit/>
          </a:bodyPr>
          <a:lstStyle/>
          <a:p>
            <a:pPr>
              <a:spcAft>
                <a:spcPts val="1000"/>
              </a:spcAft>
              <a:defRPr sz="1500" b="1">
                <a:solidFill>
                  <a:srgbClr val="3F4E41"/>
                </a:solidFill>
              </a:defRPr>
            </a:pPr>
            <a:r>
              <a:t>HTML5</a:t>
            </a:r>
          </a:p>
          <a:p>
            <a:pPr>
              <a:spcAft>
                <a:spcPts val="600"/>
              </a:spcAft>
              <a:defRPr sz="1200">
                <a:solidFill>
                  <a:srgbClr val="1C2420"/>
                </a:solidFill>
              </a:defRPr>
            </a:pPr>
            <a:r>
              <a:t>Untuk menyusun struktur halaman web (judul, teks, tombol, gambar, dll).</a:t>
            </a:r>
          </a:p>
          <a:p>
            <a:pPr>
              <a:spcAft>
                <a:spcPts val="600"/>
              </a:spcAft>
              <a:defRPr sz="1200">
                <a:solidFill>
                  <a:srgbClr val="1C2420"/>
                </a:solidFill>
              </a:defRPr>
            </a:pPr>
          </a:p>
          <a:p>
            <a:pPr>
              <a:spcAft>
                <a:spcPts val="600"/>
              </a:spcAft>
              <a:defRPr sz="1200">
                <a:solidFill>
                  <a:srgbClr val="1C2420"/>
                </a:solidFill>
              </a:defRPr>
            </a:pPr>
            <a:r>
              <a:t>Ibarat kerangka bangunan sebuah rumah.</a:t>
            </a:r>
          </a:p>
        </p:txBody>
      </p:sp>
      <p:sp>
        <p:nvSpPr>
          <p:cNvPr id="7" name="Rounded Rectangle 6"/>
          <p:cNvSpPr/>
          <p:nvPr/>
        </p:nvSpPr>
        <p:spPr>
          <a:xfrm>
            <a:off x="3474720" y="1645920"/>
            <a:ext cx="2468880" cy="4572000"/>
          </a:xfrm>
          <a:prstGeom prst="roundRect">
            <a:avLst/>
          </a:prstGeom>
          <a:solidFill>
            <a:srgbClr val="FFFFFF"/>
          </a:solidFill>
          <a:ln w="19050">
            <a:solidFill>
              <a:srgbClr val="DC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49039" y="1874519"/>
            <a:ext cx="1920240" cy="4114800"/>
          </a:xfrm>
          <a:prstGeom prst="rect">
            <a:avLst/>
          </a:prstGeom>
          <a:noFill/>
        </p:spPr>
        <p:txBody>
          <a:bodyPr wrap="square">
            <a:spAutoFit/>
          </a:bodyPr>
          <a:lstStyle/>
          <a:p>
            <a:pPr>
              <a:spcAft>
                <a:spcPts val="1000"/>
              </a:spcAft>
              <a:defRPr sz="1500" b="1">
                <a:solidFill>
                  <a:srgbClr val="3F4E41"/>
                </a:solidFill>
              </a:defRPr>
            </a:pPr>
            <a:r>
              <a:t>CSS3</a:t>
            </a:r>
          </a:p>
          <a:p>
            <a:pPr>
              <a:spcAft>
                <a:spcPts val="600"/>
              </a:spcAft>
              <a:defRPr sz="1200">
                <a:solidFill>
                  <a:srgbClr val="1C2420"/>
                </a:solidFill>
              </a:defRPr>
            </a:pPr>
            <a:r>
              <a:t>Untuk mempercantik tampilan (warna, ukuran, animasi, tema gelap/terang).</a:t>
            </a:r>
          </a:p>
          <a:p>
            <a:pPr>
              <a:spcAft>
                <a:spcPts val="600"/>
              </a:spcAft>
              <a:defRPr sz="1200">
                <a:solidFill>
                  <a:srgbClr val="1C2420"/>
                </a:solidFill>
              </a:defRPr>
            </a:pPr>
          </a:p>
          <a:p>
            <a:pPr>
              <a:spcAft>
                <a:spcPts val="600"/>
              </a:spcAft>
              <a:defRPr sz="1200">
                <a:solidFill>
                  <a:srgbClr val="1C2420"/>
                </a:solidFill>
              </a:defRPr>
            </a:pPr>
            <a:r>
              <a:t>Ibarat cat dan dekorasi rumah.</a:t>
            </a:r>
          </a:p>
        </p:txBody>
      </p:sp>
      <p:sp>
        <p:nvSpPr>
          <p:cNvPr id="9" name="Rounded Rectangle 8"/>
          <p:cNvSpPr/>
          <p:nvPr/>
        </p:nvSpPr>
        <p:spPr>
          <a:xfrm>
            <a:off x="6217920" y="1645920"/>
            <a:ext cx="2468880" cy="4572000"/>
          </a:xfrm>
          <a:prstGeom prst="roundRect">
            <a:avLst/>
          </a:prstGeom>
          <a:solidFill>
            <a:srgbClr val="FFFFFF"/>
          </a:solidFill>
          <a:ln w="19050">
            <a:solidFill>
              <a:srgbClr val="DC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874519"/>
            <a:ext cx="1920240" cy="4114800"/>
          </a:xfrm>
          <a:prstGeom prst="rect">
            <a:avLst/>
          </a:prstGeom>
          <a:noFill/>
        </p:spPr>
        <p:txBody>
          <a:bodyPr wrap="square">
            <a:spAutoFit/>
          </a:bodyPr>
          <a:lstStyle/>
          <a:p>
            <a:pPr>
              <a:spcAft>
                <a:spcPts val="1000"/>
              </a:spcAft>
              <a:defRPr sz="1500" b="1">
                <a:solidFill>
                  <a:srgbClr val="3F4E41"/>
                </a:solidFill>
              </a:defRPr>
            </a:pPr>
            <a:r>
              <a:t>JavaScript</a:t>
            </a:r>
          </a:p>
          <a:p>
            <a:pPr>
              <a:spcAft>
                <a:spcPts val="600"/>
              </a:spcAft>
              <a:defRPr sz="1200">
                <a:solidFill>
                  <a:srgbClr val="1C2420"/>
                </a:solidFill>
              </a:defRPr>
            </a:pPr>
            <a:r>
              <a:t>Untuk membuat halaman jadi interaktif (countdown, musik, salin rekening).</a:t>
            </a:r>
          </a:p>
          <a:p>
            <a:pPr>
              <a:spcAft>
                <a:spcPts val="600"/>
              </a:spcAft>
              <a:defRPr sz="1200">
                <a:solidFill>
                  <a:srgbClr val="1C2420"/>
                </a:solidFill>
              </a:defRPr>
            </a:pPr>
          </a:p>
          <a:p>
            <a:pPr>
              <a:spcAft>
                <a:spcPts val="600"/>
              </a:spcAft>
              <a:defRPr sz="1200">
                <a:solidFill>
                  <a:srgbClr val="1C2420"/>
                </a:solidFill>
              </a:defRPr>
            </a:pPr>
            <a:r>
              <a:t>Ibarat peralatan elektronik di dalam rumah.</a:t>
            </a:r>
          </a:p>
        </p:txBody>
      </p:sp>
      <p:sp>
        <p:nvSpPr>
          <p:cNvPr id="11" name="Rounded Rectangle 10"/>
          <p:cNvSpPr/>
          <p:nvPr/>
        </p:nvSpPr>
        <p:spPr>
          <a:xfrm>
            <a:off x="8961120" y="1645920"/>
            <a:ext cx="2468880" cy="4572000"/>
          </a:xfrm>
          <a:prstGeom prst="roundRect">
            <a:avLst/>
          </a:prstGeom>
          <a:solidFill>
            <a:srgbClr val="FFFFFF"/>
          </a:solidFill>
          <a:ln w="19050">
            <a:solidFill>
              <a:srgbClr val="DC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0" y="1874519"/>
            <a:ext cx="1920240" cy="4114800"/>
          </a:xfrm>
          <a:prstGeom prst="rect">
            <a:avLst/>
          </a:prstGeom>
          <a:noFill/>
        </p:spPr>
        <p:txBody>
          <a:bodyPr wrap="square">
            <a:spAutoFit/>
          </a:bodyPr>
          <a:lstStyle/>
          <a:p>
            <a:pPr>
              <a:spcAft>
                <a:spcPts val="1000"/>
              </a:spcAft>
              <a:defRPr sz="1500" b="1">
                <a:solidFill>
                  <a:srgbClr val="3F4E41"/>
                </a:solidFill>
              </a:defRPr>
            </a:pPr>
            <a:r>
              <a:t>PHP Server</a:t>
            </a:r>
          </a:p>
          <a:p>
            <a:pPr>
              <a:spcAft>
                <a:spcPts val="600"/>
              </a:spcAft>
              <a:defRPr sz="1200">
                <a:solidFill>
                  <a:srgbClr val="1C2420"/>
                </a:solidFill>
              </a:defRPr>
            </a:pPr>
            <a:r>
              <a:t>Untuk menjalankan website di komputer lokal dengan perintah sederhana.</a:t>
            </a:r>
          </a:p>
          <a:p>
            <a:pPr>
              <a:spcAft>
                <a:spcPts val="600"/>
              </a:spcAft>
              <a:defRPr sz="1200">
                <a:solidFill>
                  <a:srgbClr val="1C2420"/>
                </a:solidFill>
              </a:defRPr>
            </a:pPr>
          </a:p>
          <a:p>
            <a:pPr>
              <a:spcAft>
                <a:spcPts val="600"/>
              </a:spcAft>
              <a:defRPr sz="1200">
                <a:solidFill>
                  <a:srgbClr val="1C2420"/>
                </a:solidFill>
              </a:defRPr>
            </a:pPr>
            <a:r>
              <a:t>Cukup klik start.bat, website langsung bisa dibuka.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lgn="l">
              <a:defRPr sz="1100" b="1">
                <a:solidFill>
                  <a:srgbClr val="C2A676"/>
                </a:solidFill>
              </a:defRPr>
            </a:pPr>
            <a:r>
              <a:t>ALUR SISTEM</a:t>
            </a:r>
          </a:p>
        </p:txBody>
      </p:sp>
      <p:sp>
        <p:nvSpPr>
          <p:cNvPr id="4" name="TextBox 3"/>
          <p:cNvSpPr txBox="1"/>
          <p:nvPr/>
        </p:nvSpPr>
        <p:spPr>
          <a:xfrm>
            <a:off x="731520" y="777240"/>
            <a:ext cx="10698480" cy="640080"/>
          </a:xfrm>
          <a:prstGeom prst="rect">
            <a:avLst/>
          </a:prstGeom>
          <a:noFill/>
        </p:spPr>
        <p:txBody>
          <a:bodyPr wrap="square">
            <a:spAutoFit/>
          </a:bodyPr>
          <a:lstStyle/>
          <a:p>
            <a:pPr algn="l">
              <a:defRPr sz="2400" b="1">
                <a:solidFill>
                  <a:srgbClr val="3F4E41"/>
                </a:solidFill>
              </a:defRPr>
            </a:pPr>
            <a:r>
              <a:t>Flowchart Alur Website Undangan Digital</a:t>
            </a:r>
          </a:p>
        </p:txBody>
      </p:sp>
      <p:sp>
        <p:nvSpPr>
          <p:cNvPr id="5" name="Rounded Rectangle 4"/>
          <p:cNvSpPr/>
          <p:nvPr/>
        </p:nvSpPr>
        <p:spPr>
          <a:xfrm>
            <a:off x="1188720" y="1554480"/>
            <a:ext cx="3474720" cy="502920"/>
          </a:xfrm>
          <a:prstGeom prst="roundRect">
            <a:avLst/>
          </a:prstGeom>
          <a:solidFill>
            <a:srgbClr val="586B5A"/>
          </a:solidFill>
          <a:ln w="19050">
            <a:solidFill>
              <a:srgbClr val="C2A67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Tamu Klik Link Undangan di WhatsApp</a:t>
            </a:r>
          </a:p>
        </p:txBody>
      </p:sp>
      <p:sp>
        <p:nvSpPr>
          <p:cNvPr id="6" name="Rectangle 5"/>
          <p:cNvSpPr/>
          <p:nvPr/>
        </p:nvSpPr>
        <p:spPr>
          <a:xfrm>
            <a:off x="2912364" y="2057400"/>
            <a:ext cx="27432" cy="164591"/>
          </a:xfrm>
          <a:prstGeom prst="rect">
            <a:avLst/>
          </a:prstGeom>
          <a:solidFill>
            <a:srgbClr val="C2A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rot="10800000">
            <a:off x="2852928" y="2194560"/>
            <a:ext cx="146304" cy="137160"/>
          </a:xfrm>
          <a:prstGeom prst="triangle">
            <a:avLst/>
          </a:prstGeom>
          <a:solidFill>
            <a:srgbClr val="C2A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188720" y="2331720"/>
            <a:ext cx="3474720" cy="502920"/>
          </a:xfrm>
          <a:prstGeom prst="roundRect">
            <a:avLst/>
          </a:prstGeom>
          <a:solidFill>
            <a:srgbClr val="586B5A"/>
          </a:solidFill>
          <a:ln w="19050">
            <a:solidFill>
              <a:srgbClr val="C2A67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Server PHP Mengirim Halaman Web ke HP Tamu</a:t>
            </a:r>
          </a:p>
        </p:txBody>
      </p:sp>
      <p:sp>
        <p:nvSpPr>
          <p:cNvPr id="9" name="Rectangle 8"/>
          <p:cNvSpPr/>
          <p:nvPr/>
        </p:nvSpPr>
        <p:spPr>
          <a:xfrm>
            <a:off x="2912364" y="2834639"/>
            <a:ext cx="27432" cy="164592"/>
          </a:xfrm>
          <a:prstGeom prst="rect">
            <a:avLst/>
          </a:prstGeom>
          <a:solidFill>
            <a:srgbClr val="C2A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sosceles Triangle 9"/>
          <p:cNvSpPr/>
          <p:nvPr/>
        </p:nvSpPr>
        <p:spPr>
          <a:xfrm rot="10800000">
            <a:off x="2852928" y="2971800"/>
            <a:ext cx="146304" cy="137160"/>
          </a:xfrm>
          <a:prstGeom prst="triangle">
            <a:avLst/>
          </a:prstGeom>
          <a:solidFill>
            <a:srgbClr val="C2A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88720" y="3108960"/>
            <a:ext cx="3474720" cy="502920"/>
          </a:xfrm>
          <a:prstGeom prst="roundRect">
            <a:avLst/>
          </a:prstGeom>
          <a:solidFill>
            <a:srgbClr val="586B5A"/>
          </a:solidFill>
          <a:ln w="19050">
            <a:solidFill>
              <a:srgbClr val="C2A67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Muncul Sampul "Kepada Yth. [Nama Tamu]"</a:t>
            </a:r>
          </a:p>
        </p:txBody>
      </p:sp>
      <p:sp>
        <p:nvSpPr>
          <p:cNvPr id="12" name="Rectangle 11"/>
          <p:cNvSpPr/>
          <p:nvPr/>
        </p:nvSpPr>
        <p:spPr>
          <a:xfrm>
            <a:off x="2912364" y="3611880"/>
            <a:ext cx="27432" cy="164591"/>
          </a:xfrm>
          <a:prstGeom prst="rect">
            <a:avLst/>
          </a:prstGeom>
          <a:solidFill>
            <a:srgbClr val="C2A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2852928" y="3749039"/>
            <a:ext cx="146304" cy="137160"/>
          </a:xfrm>
          <a:prstGeom prst="triangle">
            <a:avLst/>
          </a:prstGeom>
          <a:solidFill>
            <a:srgbClr val="C2A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88720" y="3886200"/>
            <a:ext cx="3474720" cy="502920"/>
          </a:xfrm>
          <a:prstGeom prst="roundRect">
            <a:avLst/>
          </a:prstGeom>
          <a:solidFill>
            <a:srgbClr val="C2A676"/>
          </a:solidFill>
          <a:ln w="19050">
            <a:solidFill>
              <a:srgbClr val="C2A67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C2420"/>
                </a:solidFill>
              </a:defRPr>
            </a:pPr>
            <a:r>
              <a:t>Tamu Klik Tombol "BUKA UNDANGAN"</a:t>
            </a:r>
          </a:p>
        </p:txBody>
      </p:sp>
      <p:sp>
        <p:nvSpPr>
          <p:cNvPr id="15" name="Rectangle 14"/>
          <p:cNvSpPr/>
          <p:nvPr/>
        </p:nvSpPr>
        <p:spPr>
          <a:xfrm>
            <a:off x="2912364" y="4389120"/>
            <a:ext cx="27432" cy="164591"/>
          </a:xfrm>
          <a:prstGeom prst="rect">
            <a:avLst/>
          </a:prstGeom>
          <a:solidFill>
            <a:srgbClr val="C2A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2852928" y="4526279"/>
            <a:ext cx="146304" cy="137160"/>
          </a:xfrm>
          <a:prstGeom prst="triangle">
            <a:avLst/>
          </a:prstGeom>
          <a:solidFill>
            <a:srgbClr val="C2A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188720" y="4663440"/>
            <a:ext cx="3474720" cy="502920"/>
          </a:xfrm>
          <a:prstGeom prst="roundRect">
            <a:avLst/>
          </a:prstGeom>
          <a:solidFill>
            <a:srgbClr val="586B5A"/>
          </a:solidFill>
          <a:ln w="19050">
            <a:solidFill>
              <a:srgbClr val="C2A67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Musik Menyala + Sampul Terbuka + Scroll Aktif</a:t>
            </a:r>
          </a:p>
        </p:txBody>
      </p:sp>
      <p:sp>
        <p:nvSpPr>
          <p:cNvPr id="18" name="Rectangle 17"/>
          <p:cNvSpPr/>
          <p:nvPr/>
        </p:nvSpPr>
        <p:spPr>
          <a:xfrm>
            <a:off x="2912364" y="5166359"/>
            <a:ext cx="27432" cy="164592"/>
          </a:xfrm>
          <a:prstGeom prst="rect">
            <a:avLst/>
          </a:prstGeom>
          <a:solidFill>
            <a:srgbClr val="C2A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2852928" y="5303520"/>
            <a:ext cx="146304" cy="137160"/>
          </a:xfrm>
          <a:prstGeom prst="triangle">
            <a:avLst/>
          </a:prstGeom>
          <a:solidFill>
            <a:srgbClr val="C2A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188720" y="5440680"/>
            <a:ext cx="3474720" cy="502920"/>
          </a:xfrm>
          <a:prstGeom prst="roundRect">
            <a:avLst/>
          </a:prstGeom>
          <a:solidFill>
            <a:srgbClr val="586B5A"/>
          </a:solidFill>
          <a:ln w="19050">
            <a:solidFill>
              <a:srgbClr val="C2A67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Tamu Bisa Scroll Melihat Seluruh Isi Undangan</a:t>
            </a:r>
          </a:p>
        </p:txBody>
      </p:sp>
      <p:sp>
        <p:nvSpPr>
          <p:cNvPr id="21" name="Rounded Rectangle 20"/>
          <p:cNvSpPr/>
          <p:nvPr/>
        </p:nvSpPr>
        <p:spPr>
          <a:xfrm>
            <a:off x="6766559" y="1554480"/>
            <a:ext cx="3291840" cy="4846320"/>
          </a:xfrm>
          <a:prstGeom prst="roundRect">
            <a:avLst/>
          </a:prstGeom>
          <a:solidFill>
            <a:srgbClr val="FFFFFF"/>
          </a:solidFill>
          <a:ln w="19050">
            <a:solidFill>
              <a:srgbClr val="DC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79" y="1737360"/>
            <a:ext cx="2743200" cy="4572000"/>
          </a:xfrm>
          <a:prstGeom prst="rect">
            <a:avLst/>
          </a:prstGeom>
          <a:noFill/>
        </p:spPr>
        <p:txBody>
          <a:bodyPr wrap="square">
            <a:spAutoFit/>
          </a:bodyPr>
          <a:lstStyle/>
          <a:p>
            <a:pPr>
              <a:spcAft>
                <a:spcPts val="1000"/>
              </a:spcAft>
              <a:defRPr sz="1300" b="1">
                <a:solidFill>
                  <a:srgbClr val="3F4E41"/>
                </a:solidFill>
              </a:defRPr>
            </a:pPr>
            <a:r>
              <a:t>Isi Halaman (Atas ke Bawah):</a:t>
            </a:r>
          </a:p>
          <a:p>
            <a:pPr>
              <a:spcAft>
                <a:spcPts val="600"/>
              </a:spcAft>
              <a:defRPr sz="1100">
                <a:solidFill>
                  <a:srgbClr val="1C2420"/>
                </a:solidFill>
              </a:defRPr>
            </a:pPr>
            <a:r>
              <a:t>1. Hero — Judul &amp; Ayat Suci</a:t>
            </a:r>
          </a:p>
          <a:p>
            <a:pPr>
              <a:spcAft>
                <a:spcPts val="600"/>
              </a:spcAft>
              <a:defRPr sz="1100">
                <a:solidFill>
                  <a:srgbClr val="1C2420"/>
                </a:solidFill>
              </a:defRPr>
            </a:pPr>
            <a:r>
              <a:t>2. Countdown — Hitung Mundur Hari H</a:t>
            </a:r>
          </a:p>
          <a:p>
            <a:pPr>
              <a:spcAft>
                <a:spcPts val="600"/>
              </a:spcAft>
              <a:defRPr sz="1100">
                <a:solidFill>
                  <a:srgbClr val="1C2420"/>
                </a:solidFill>
              </a:defRPr>
            </a:pPr>
            <a:r>
              <a:t>3. Mempelai — Profil Wira &amp; Neera</a:t>
            </a:r>
          </a:p>
          <a:p>
            <a:pPr>
              <a:spcAft>
                <a:spcPts val="600"/>
              </a:spcAft>
              <a:defRPr sz="1100">
                <a:solidFill>
                  <a:srgbClr val="1C2420"/>
                </a:solidFill>
              </a:defRPr>
            </a:pPr>
            <a:r>
              <a:t>4. Acara — Jadwal Akad &amp; Resepsi</a:t>
            </a:r>
          </a:p>
          <a:p>
            <a:pPr>
              <a:spcAft>
                <a:spcPts val="600"/>
              </a:spcAft>
              <a:defRPr sz="1100">
                <a:solidFill>
                  <a:srgbClr val="1C2420"/>
                </a:solidFill>
              </a:defRPr>
            </a:pPr>
            <a:r>
              <a:t>5. Lokasi — Peta Google Maps</a:t>
            </a:r>
          </a:p>
          <a:p>
            <a:pPr>
              <a:spcAft>
                <a:spcPts val="600"/>
              </a:spcAft>
              <a:defRPr sz="1100">
                <a:solidFill>
                  <a:srgbClr val="1C2420"/>
                </a:solidFill>
              </a:defRPr>
            </a:pPr>
            <a:r>
              <a:t>6. Live — Siaran Langsung Online</a:t>
            </a:r>
          </a:p>
          <a:p>
            <a:pPr>
              <a:spcAft>
                <a:spcPts val="600"/>
              </a:spcAft>
              <a:defRPr sz="1100">
                <a:solidFill>
                  <a:srgbClr val="1C2420"/>
                </a:solidFill>
              </a:defRPr>
            </a:pPr>
            <a:r>
              <a:t>7. Gift — Salin No. Rekening / E-Wallet</a:t>
            </a:r>
          </a:p>
          <a:p>
            <a:pPr>
              <a:spcAft>
                <a:spcPts val="600"/>
              </a:spcAft>
              <a:defRPr sz="1100">
                <a:solidFill>
                  <a:srgbClr val="1C2420"/>
                </a:solidFill>
              </a:defRPr>
            </a:pPr>
            <a:r>
              <a:t>8. Penutup — Ucapan Terima Kasih</a:t>
            </a:r>
          </a:p>
        </p:txBody>
      </p:sp>
      <p:sp>
        <p:nvSpPr>
          <p:cNvPr id="23" name="Rectangle 22"/>
          <p:cNvSpPr/>
          <p:nvPr/>
        </p:nvSpPr>
        <p:spPr>
          <a:xfrm>
            <a:off x="4663440" y="5678424"/>
            <a:ext cx="2103119" cy="27432"/>
          </a:xfrm>
          <a:prstGeom prst="rect">
            <a:avLst/>
          </a:prstGeom>
          <a:solidFill>
            <a:srgbClr val="C2A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5400000">
            <a:off x="6629399" y="5618988"/>
            <a:ext cx="137160" cy="146304"/>
          </a:xfrm>
          <a:prstGeom prst="triangle">
            <a:avLst/>
          </a:prstGeom>
          <a:solidFill>
            <a:srgbClr val="C2A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lgn="l">
              <a:defRPr sz="1100" b="1">
                <a:solidFill>
                  <a:srgbClr val="C2A676"/>
                </a:solidFill>
              </a:defRPr>
            </a:pPr>
            <a:r>
              <a:t>FITUR</a:t>
            </a:r>
          </a:p>
        </p:txBody>
      </p:sp>
      <p:sp>
        <p:nvSpPr>
          <p:cNvPr id="4" name="TextBox 3"/>
          <p:cNvSpPr txBox="1"/>
          <p:nvPr/>
        </p:nvSpPr>
        <p:spPr>
          <a:xfrm>
            <a:off x="731520" y="777240"/>
            <a:ext cx="10698480" cy="640080"/>
          </a:xfrm>
          <a:prstGeom prst="rect">
            <a:avLst/>
          </a:prstGeom>
          <a:noFill/>
        </p:spPr>
        <p:txBody>
          <a:bodyPr wrap="square">
            <a:spAutoFit/>
          </a:bodyPr>
          <a:lstStyle/>
          <a:p>
            <a:pPr algn="l">
              <a:defRPr sz="2400" b="1">
                <a:solidFill>
                  <a:srgbClr val="3F4E41"/>
                </a:solidFill>
              </a:defRPr>
            </a:pPr>
            <a:r>
              <a:t>Fitur-Fitur Utama Website</a:t>
            </a:r>
          </a:p>
        </p:txBody>
      </p:sp>
      <p:sp>
        <p:nvSpPr>
          <p:cNvPr id="5" name="Rounded Rectangle 4"/>
          <p:cNvSpPr/>
          <p:nvPr/>
        </p:nvSpPr>
        <p:spPr>
          <a:xfrm>
            <a:off x="731520" y="1645920"/>
            <a:ext cx="3291840" cy="2103120"/>
          </a:xfrm>
          <a:prstGeom prst="roundRect">
            <a:avLst/>
          </a:prstGeom>
          <a:solidFill>
            <a:srgbClr val="FFFFFF"/>
          </a:solidFill>
          <a:ln w="19050">
            <a:solidFill>
              <a:srgbClr val="DC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74519"/>
            <a:ext cx="2743200" cy="1645919"/>
          </a:xfrm>
          <a:prstGeom prst="rect">
            <a:avLst/>
          </a:prstGeom>
          <a:noFill/>
        </p:spPr>
        <p:txBody>
          <a:bodyPr wrap="square">
            <a:spAutoFit/>
          </a:bodyPr>
          <a:lstStyle/>
          <a:p>
            <a:pPr>
              <a:spcAft>
                <a:spcPts val="1000"/>
              </a:spcAft>
              <a:defRPr sz="1500" b="1">
                <a:solidFill>
                  <a:srgbClr val="3F4E41"/>
                </a:solidFill>
              </a:defRPr>
            </a:pPr>
            <a:r>
              <a:t>Nama Tamu Otomatis</a:t>
            </a:r>
          </a:p>
          <a:p>
            <a:pPr>
              <a:spcAft>
                <a:spcPts val="600"/>
              </a:spcAft>
              <a:defRPr sz="1200">
                <a:solidFill>
                  <a:srgbClr val="1C2420"/>
                </a:solidFill>
              </a:defRPr>
            </a:pPr>
            <a:r>
              <a:t>Nama tamu langsung muncul di sampul dari link yang dikirim (?to=NamaTamu).</a:t>
            </a:r>
          </a:p>
        </p:txBody>
      </p:sp>
      <p:sp>
        <p:nvSpPr>
          <p:cNvPr id="7" name="Rounded Rectangle 6"/>
          <p:cNvSpPr/>
          <p:nvPr/>
        </p:nvSpPr>
        <p:spPr>
          <a:xfrm>
            <a:off x="4389120" y="1645920"/>
            <a:ext cx="3291840" cy="2103120"/>
          </a:xfrm>
          <a:prstGeom prst="roundRect">
            <a:avLst/>
          </a:prstGeom>
          <a:solidFill>
            <a:srgbClr val="FFFFFF"/>
          </a:solidFill>
          <a:ln w="19050">
            <a:solidFill>
              <a:srgbClr val="DC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1874519"/>
            <a:ext cx="2743200" cy="1645919"/>
          </a:xfrm>
          <a:prstGeom prst="rect">
            <a:avLst/>
          </a:prstGeom>
          <a:noFill/>
        </p:spPr>
        <p:txBody>
          <a:bodyPr wrap="square">
            <a:spAutoFit/>
          </a:bodyPr>
          <a:lstStyle/>
          <a:p>
            <a:pPr>
              <a:spcAft>
                <a:spcPts val="1000"/>
              </a:spcAft>
              <a:defRPr sz="1500" b="1">
                <a:solidFill>
                  <a:srgbClr val="3F4E41"/>
                </a:solidFill>
              </a:defRPr>
            </a:pPr>
            <a:r>
              <a:t>Musik Latar</a:t>
            </a:r>
          </a:p>
          <a:p>
            <a:pPr>
              <a:spcAft>
                <a:spcPts val="600"/>
              </a:spcAft>
              <a:defRPr sz="1200">
                <a:solidFill>
                  <a:srgbClr val="1C2420"/>
                </a:solidFill>
              </a:defRPr>
            </a:pPr>
            <a:r>
              <a:t>Musik romantis otomatis menyala saat buka undangan. Bisa dimatikan kapan saja.</a:t>
            </a:r>
          </a:p>
        </p:txBody>
      </p:sp>
      <p:sp>
        <p:nvSpPr>
          <p:cNvPr id="9" name="Rounded Rectangle 8"/>
          <p:cNvSpPr/>
          <p:nvPr/>
        </p:nvSpPr>
        <p:spPr>
          <a:xfrm>
            <a:off x="8046720" y="1645920"/>
            <a:ext cx="3291840" cy="2103120"/>
          </a:xfrm>
          <a:prstGeom prst="roundRect">
            <a:avLst/>
          </a:prstGeom>
          <a:solidFill>
            <a:srgbClr val="FFFFFF"/>
          </a:solidFill>
          <a:ln w="19050">
            <a:solidFill>
              <a:srgbClr val="DC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1874519"/>
            <a:ext cx="2743200" cy="1645919"/>
          </a:xfrm>
          <a:prstGeom prst="rect">
            <a:avLst/>
          </a:prstGeom>
          <a:noFill/>
        </p:spPr>
        <p:txBody>
          <a:bodyPr wrap="square">
            <a:spAutoFit/>
          </a:bodyPr>
          <a:lstStyle/>
          <a:p>
            <a:pPr>
              <a:spcAft>
                <a:spcPts val="1000"/>
              </a:spcAft>
              <a:defRPr sz="1500" b="1">
                <a:solidFill>
                  <a:srgbClr val="3F4E41"/>
                </a:solidFill>
              </a:defRPr>
            </a:pPr>
            <a:r>
              <a:t>Hitung Mundur</a:t>
            </a:r>
          </a:p>
          <a:p>
            <a:pPr>
              <a:spcAft>
                <a:spcPts val="600"/>
              </a:spcAft>
              <a:defRPr sz="1200">
                <a:solidFill>
                  <a:srgbClr val="1C2420"/>
                </a:solidFill>
              </a:defRPr>
            </a:pPr>
            <a:r>
              <a:t>Countdown hari, jam, menit, detik menuju tanggal akad nikah secara real-time.</a:t>
            </a:r>
          </a:p>
        </p:txBody>
      </p:sp>
      <p:sp>
        <p:nvSpPr>
          <p:cNvPr id="11" name="Rounded Rectangle 10"/>
          <p:cNvSpPr/>
          <p:nvPr/>
        </p:nvSpPr>
        <p:spPr>
          <a:xfrm>
            <a:off x="731520" y="3931920"/>
            <a:ext cx="3291840" cy="2103120"/>
          </a:xfrm>
          <a:prstGeom prst="roundRect">
            <a:avLst/>
          </a:prstGeom>
          <a:solidFill>
            <a:srgbClr val="FFFFFF"/>
          </a:solidFill>
          <a:ln w="19050">
            <a:solidFill>
              <a:srgbClr val="DC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160520"/>
            <a:ext cx="2743200" cy="1645919"/>
          </a:xfrm>
          <a:prstGeom prst="rect">
            <a:avLst/>
          </a:prstGeom>
          <a:noFill/>
        </p:spPr>
        <p:txBody>
          <a:bodyPr wrap="square">
            <a:spAutoFit/>
          </a:bodyPr>
          <a:lstStyle/>
          <a:p>
            <a:pPr>
              <a:spcAft>
                <a:spcPts val="1000"/>
              </a:spcAft>
              <a:defRPr sz="1500" b="1">
                <a:solidFill>
                  <a:srgbClr val="3F4E41"/>
                </a:solidFill>
              </a:defRPr>
            </a:pPr>
            <a:r>
              <a:t>Dark / Light Mode</a:t>
            </a:r>
          </a:p>
          <a:p>
            <a:pPr>
              <a:spcAft>
                <a:spcPts val="600"/>
              </a:spcAft>
              <a:defRPr sz="1200">
                <a:solidFill>
                  <a:srgbClr val="1C2420"/>
                </a:solidFill>
              </a:defRPr>
            </a:pPr>
            <a:r>
              <a:t>Tamu bisa ganti tema gelap atau terang. Pilihan tersimpan otomatis di browser.</a:t>
            </a:r>
          </a:p>
        </p:txBody>
      </p:sp>
      <p:sp>
        <p:nvSpPr>
          <p:cNvPr id="13" name="Rounded Rectangle 12"/>
          <p:cNvSpPr/>
          <p:nvPr/>
        </p:nvSpPr>
        <p:spPr>
          <a:xfrm>
            <a:off x="4389120" y="3931920"/>
            <a:ext cx="3291840" cy="2103120"/>
          </a:xfrm>
          <a:prstGeom prst="roundRect">
            <a:avLst/>
          </a:prstGeom>
          <a:solidFill>
            <a:srgbClr val="FFFFFF"/>
          </a:solidFill>
          <a:ln w="19050">
            <a:solidFill>
              <a:srgbClr val="DC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4160520"/>
            <a:ext cx="2743200" cy="1645919"/>
          </a:xfrm>
          <a:prstGeom prst="rect">
            <a:avLst/>
          </a:prstGeom>
          <a:noFill/>
        </p:spPr>
        <p:txBody>
          <a:bodyPr wrap="square">
            <a:spAutoFit/>
          </a:bodyPr>
          <a:lstStyle/>
          <a:p>
            <a:pPr>
              <a:spcAft>
                <a:spcPts val="1000"/>
              </a:spcAft>
              <a:defRPr sz="1500" b="1">
                <a:solidFill>
                  <a:srgbClr val="3F4E41"/>
                </a:solidFill>
              </a:defRPr>
            </a:pPr>
            <a:r>
              <a:t>Salin Rekening 1 Klik</a:t>
            </a:r>
          </a:p>
          <a:p>
            <a:pPr>
              <a:spcAft>
                <a:spcPts val="600"/>
              </a:spcAft>
              <a:defRPr sz="1200">
                <a:solidFill>
                  <a:srgbClr val="1C2420"/>
                </a:solidFill>
              </a:defRPr>
            </a:pPr>
            <a:r>
              <a:t>Tombol copy otomatis menyalin nomor rekening BCA / e-wallet ke clipboard HP.</a:t>
            </a:r>
          </a:p>
        </p:txBody>
      </p:sp>
      <p:sp>
        <p:nvSpPr>
          <p:cNvPr id="15" name="Rounded Rectangle 14"/>
          <p:cNvSpPr/>
          <p:nvPr/>
        </p:nvSpPr>
        <p:spPr>
          <a:xfrm>
            <a:off x="8046720" y="3931920"/>
            <a:ext cx="3291840" cy="2103120"/>
          </a:xfrm>
          <a:prstGeom prst="roundRect">
            <a:avLst/>
          </a:prstGeom>
          <a:solidFill>
            <a:srgbClr val="FFFFFF"/>
          </a:solidFill>
          <a:ln w="19050">
            <a:solidFill>
              <a:srgbClr val="DC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4160520"/>
            <a:ext cx="2743200" cy="1645919"/>
          </a:xfrm>
          <a:prstGeom prst="rect">
            <a:avLst/>
          </a:prstGeom>
          <a:noFill/>
        </p:spPr>
        <p:txBody>
          <a:bodyPr wrap="square">
            <a:spAutoFit/>
          </a:bodyPr>
          <a:lstStyle/>
          <a:p>
            <a:pPr>
              <a:spcAft>
                <a:spcPts val="1000"/>
              </a:spcAft>
              <a:defRPr sz="1500" b="1">
                <a:solidFill>
                  <a:srgbClr val="3F4E41"/>
                </a:solidFill>
              </a:defRPr>
            </a:pPr>
            <a:r>
              <a:t>Peta Lokasi</a:t>
            </a:r>
          </a:p>
          <a:p>
            <a:pPr>
              <a:spcAft>
                <a:spcPts val="600"/>
              </a:spcAft>
              <a:defRPr sz="1200">
                <a:solidFill>
                  <a:srgbClr val="1C2420"/>
                </a:solidFill>
              </a:defRPr>
            </a:pPr>
            <a:r>
              <a:t>Google Maps tertanam langsung di halaman. Ada tombol buka rute ke gedung.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lgn="l">
              <a:defRPr sz="1100" b="1">
                <a:solidFill>
                  <a:srgbClr val="C2A676"/>
                </a:solidFill>
              </a:defRPr>
            </a:pPr>
            <a:r>
              <a:t>DEMO</a:t>
            </a:r>
          </a:p>
        </p:txBody>
      </p:sp>
      <p:sp>
        <p:nvSpPr>
          <p:cNvPr id="4" name="TextBox 3"/>
          <p:cNvSpPr txBox="1"/>
          <p:nvPr/>
        </p:nvSpPr>
        <p:spPr>
          <a:xfrm>
            <a:off x="731520" y="777240"/>
            <a:ext cx="10698480" cy="640080"/>
          </a:xfrm>
          <a:prstGeom prst="rect">
            <a:avLst/>
          </a:prstGeom>
          <a:noFill/>
        </p:spPr>
        <p:txBody>
          <a:bodyPr wrap="square">
            <a:spAutoFit/>
          </a:bodyPr>
          <a:lstStyle/>
          <a:p>
            <a:pPr algn="l">
              <a:defRPr sz="2400" b="1">
                <a:solidFill>
                  <a:srgbClr val="3F4E41"/>
                </a:solidFill>
              </a:defRPr>
            </a:pPr>
            <a:r>
              <a:t>Cara Menjalankan Website</a:t>
            </a:r>
          </a:p>
        </p:txBody>
      </p:sp>
      <p:sp>
        <p:nvSpPr>
          <p:cNvPr id="5" name="Rounded Rectangle 4"/>
          <p:cNvSpPr/>
          <p:nvPr/>
        </p:nvSpPr>
        <p:spPr>
          <a:xfrm>
            <a:off x="731520" y="1645920"/>
            <a:ext cx="5120640" cy="4572000"/>
          </a:xfrm>
          <a:prstGeom prst="roundRect">
            <a:avLst/>
          </a:prstGeom>
          <a:solidFill>
            <a:srgbClr val="FFFFFF"/>
          </a:solidFill>
          <a:ln w="19050">
            <a:solidFill>
              <a:srgbClr val="DC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74519"/>
            <a:ext cx="4572000" cy="4114800"/>
          </a:xfrm>
          <a:prstGeom prst="rect">
            <a:avLst/>
          </a:prstGeom>
          <a:noFill/>
        </p:spPr>
        <p:txBody>
          <a:bodyPr wrap="square">
            <a:spAutoFit/>
          </a:bodyPr>
          <a:lstStyle/>
          <a:p>
            <a:pPr>
              <a:spcAft>
                <a:spcPts val="1000"/>
              </a:spcAft>
              <a:defRPr sz="1500" b="1">
                <a:solidFill>
                  <a:srgbClr val="3F4E41"/>
                </a:solidFill>
              </a:defRPr>
            </a:pPr>
            <a:r>
              <a:t>Langkah-Langkah</a:t>
            </a:r>
          </a:p>
          <a:p>
            <a:pPr>
              <a:spcAft>
                <a:spcPts val="600"/>
              </a:spcAft>
              <a:defRPr sz="1200">
                <a:solidFill>
                  <a:srgbClr val="1C2420"/>
                </a:solidFill>
              </a:defRPr>
            </a:pPr>
            <a:r>
              <a:t>1. Buka folder proyek undangan-fatih.</a:t>
            </a:r>
          </a:p>
          <a:p>
            <a:pPr>
              <a:spcAft>
                <a:spcPts val="600"/>
              </a:spcAft>
              <a:defRPr sz="1200">
                <a:solidFill>
                  <a:srgbClr val="1C2420"/>
                </a:solidFill>
              </a:defRPr>
            </a:pPr>
          </a:p>
          <a:p>
            <a:pPr>
              <a:spcAft>
                <a:spcPts val="600"/>
              </a:spcAft>
              <a:defRPr sz="1200">
                <a:solidFill>
                  <a:srgbClr val="1C2420"/>
                </a:solidFill>
              </a:defRPr>
            </a:pPr>
            <a:r>
              <a:t>2. Klik dua kali file start.bat.</a:t>
            </a:r>
          </a:p>
          <a:p>
            <a:pPr>
              <a:spcAft>
                <a:spcPts val="600"/>
              </a:spcAft>
              <a:defRPr sz="1200">
                <a:solidFill>
                  <a:srgbClr val="1C2420"/>
                </a:solidFill>
              </a:defRPr>
            </a:pPr>
            <a:r>
              <a:t>   → Otomatis menjalankan server PHP.</a:t>
            </a:r>
          </a:p>
          <a:p>
            <a:pPr>
              <a:spcAft>
                <a:spcPts val="600"/>
              </a:spcAft>
              <a:defRPr sz="1200">
                <a:solidFill>
                  <a:srgbClr val="1C2420"/>
                </a:solidFill>
              </a:defRPr>
            </a:pPr>
          </a:p>
          <a:p>
            <a:pPr>
              <a:spcAft>
                <a:spcPts val="600"/>
              </a:spcAft>
              <a:defRPr sz="1200">
                <a:solidFill>
                  <a:srgbClr val="1C2420"/>
                </a:solidFill>
              </a:defRPr>
            </a:pPr>
            <a:r>
              <a:t>3. Buka browser (Chrome / Edge).</a:t>
            </a:r>
          </a:p>
          <a:p>
            <a:pPr>
              <a:spcAft>
                <a:spcPts val="600"/>
              </a:spcAft>
              <a:defRPr sz="1200">
                <a:solidFill>
                  <a:srgbClr val="1C2420"/>
                </a:solidFill>
              </a:defRPr>
            </a:pPr>
          </a:p>
          <a:p>
            <a:pPr>
              <a:spcAft>
                <a:spcPts val="600"/>
              </a:spcAft>
              <a:defRPr sz="1200">
                <a:solidFill>
                  <a:srgbClr val="1C2420"/>
                </a:solidFill>
              </a:defRPr>
            </a:pPr>
            <a:r>
              <a:t>4. Ketik di address bar:</a:t>
            </a:r>
          </a:p>
          <a:p>
            <a:pPr>
              <a:spcAft>
                <a:spcPts val="600"/>
              </a:spcAft>
              <a:defRPr sz="1200">
                <a:solidFill>
                  <a:srgbClr val="1C2420"/>
                </a:solidFill>
              </a:defRPr>
            </a:pPr>
            <a:r>
              <a:t>   http://localhost:3000</a:t>
            </a:r>
          </a:p>
          <a:p>
            <a:pPr>
              <a:spcAft>
                <a:spcPts val="600"/>
              </a:spcAft>
              <a:defRPr sz="1200">
                <a:solidFill>
                  <a:srgbClr val="1C2420"/>
                </a:solidFill>
              </a:defRPr>
            </a:pPr>
          </a:p>
          <a:p>
            <a:pPr>
              <a:spcAft>
                <a:spcPts val="600"/>
              </a:spcAft>
              <a:defRPr sz="1200">
                <a:solidFill>
                  <a:srgbClr val="1C2420"/>
                </a:solidFill>
              </a:defRPr>
            </a:pPr>
            <a:r>
              <a:t>5. Website undangan langsung terbuka!</a:t>
            </a:r>
          </a:p>
          <a:p>
            <a:pPr>
              <a:spcAft>
                <a:spcPts val="600"/>
              </a:spcAft>
              <a:defRPr sz="1200">
                <a:solidFill>
                  <a:srgbClr val="1C2420"/>
                </a:solidFill>
              </a:defRPr>
            </a:pPr>
          </a:p>
          <a:p>
            <a:pPr>
              <a:spcAft>
                <a:spcPts val="600"/>
              </a:spcAft>
              <a:defRPr sz="1200">
                <a:solidFill>
                  <a:srgbClr val="1C2420"/>
                </a:solidFill>
              </a:defRPr>
            </a:pPr>
            <a:r>
              <a:t>6. Coba tambahkan nama tamu:</a:t>
            </a:r>
          </a:p>
          <a:p>
            <a:pPr>
              <a:spcAft>
                <a:spcPts val="600"/>
              </a:spcAft>
              <a:defRPr sz="1200">
                <a:solidFill>
                  <a:srgbClr val="1C2420"/>
                </a:solidFill>
              </a:defRPr>
            </a:pPr>
            <a:r>
              <a:t>   http://localhost:3000/?to=Bapak+Ahmad</a:t>
            </a:r>
          </a:p>
        </p:txBody>
      </p:sp>
      <p:sp>
        <p:nvSpPr>
          <p:cNvPr id="7" name="Rounded Rectangle 6"/>
          <p:cNvSpPr/>
          <p:nvPr/>
        </p:nvSpPr>
        <p:spPr>
          <a:xfrm>
            <a:off x="6217920" y="1645920"/>
            <a:ext cx="5212080" cy="4572000"/>
          </a:xfrm>
          <a:prstGeom prst="roundRect">
            <a:avLst/>
          </a:prstGeom>
          <a:solidFill>
            <a:srgbClr val="FFFFFF"/>
          </a:solidFill>
          <a:ln w="19050">
            <a:solidFill>
              <a:srgbClr val="DC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74519"/>
            <a:ext cx="4663440" cy="4114800"/>
          </a:xfrm>
          <a:prstGeom prst="rect">
            <a:avLst/>
          </a:prstGeom>
          <a:noFill/>
        </p:spPr>
        <p:txBody>
          <a:bodyPr wrap="square">
            <a:spAutoFit/>
          </a:bodyPr>
          <a:lstStyle/>
          <a:p>
            <a:pPr>
              <a:spcAft>
                <a:spcPts val="1000"/>
              </a:spcAft>
              <a:defRPr sz="1500" b="1">
                <a:solidFill>
                  <a:srgbClr val="3F4E41"/>
                </a:solidFill>
              </a:defRPr>
            </a:pPr>
            <a:r>
              <a:t>Catatan Penting</a:t>
            </a:r>
          </a:p>
          <a:p>
            <a:pPr>
              <a:spcAft>
                <a:spcPts val="600"/>
              </a:spcAft>
              <a:defRPr sz="1200">
                <a:solidFill>
                  <a:srgbClr val="1C2420"/>
                </a:solidFill>
              </a:defRPr>
            </a:pPr>
            <a:r>
              <a:t>• Tidak perlu install Node.js.</a:t>
            </a:r>
          </a:p>
          <a:p>
            <a:pPr>
              <a:spcAft>
                <a:spcPts val="600"/>
              </a:spcAft>
              <a:defRPr sz="1200">
                <a:solidFill>
                  <a:srgbClr val="1C2420"/>
                </a:solidFill>
              </a:defRPr>
            </a:pPr>
            <a:r>
              <a:t>  Website ini 100% pakai PHP native.</a:t>
            </a:r>
          </a:p>
          <a:p>
            <a:pPr>
              <a:spcAft>
                <a:spcPts val="600"/>
              </a:spcAft>
              <a:defRPr sz="1200">
                <a:solidFill>
                  <a:srgbClr val="1C2420"/>
                </a:solidFill>
              </a:defRPr>
            </a:pPr>
          </a:p>
          <a:p>
            <a:pPr>
              <a:spcAft>
                <a:spcPts val="600"/>
              </a:spcAft>
              <a:defRPr sz="1200">
                <a:solidFill>
                  <a:srgbClr val="1C2420"/>
                </a:solidFill>
              </a:defRPr>
            </a:pPr>
            <a:r>
              <a:t>• PHP sudah tersedia dari Laragon.</a:t>
            </a:r>
          </a:p>
          <a:p>
            <a:pPr>
              <a:spcAft>
                <a:spcPts val="600"/>
              </a:spcAft>
              <a:defRPr sz="1200">
                <a:solidFill>
                  <a:srgbClr val="1C2420"/>
                </a:solidFill>
              </a:defRPr>
            </a:pPr>
            <a:r>
              <a:t>  Script start.bat otomatis mendeteksi lokasi PHP.</a:t>
            </a:r>
          </a:p>
          <a:p>
            <a:pPr>
              <a:spcAft>
                <a:spcPts val="600"/>
              </a:spcAft>
              <a:defRPr sz="1200">
                <a:solidFill>
                  <a:srgbClr val="1C2420"/>
                </a:solidFill>
              </a:defRPr>
            </a:pPr>
          </a:p>
          <a:p>
            <a:pPr>
              <a:spcAft>
                <a:spcPts val="600"/>
              </a:spcAft>
              <a:defRPr sz="1200">
                <a:solidFill>
                  <a:srgbClr val="1C2420"/>
                </a:solidFill>
              </a:defRPr>
            </a:pPr>
            <a:r>
              <a:t>• Untuk tes tampilan HP:</a:t>
            </a:r>
          </a:p>
          <a:p>
            <a:pPr>
              <a:spcAft>
                <a:spcPts val="600"/>
              </a:spcAft>
              <a:defRPr sz="1200">
                <a:solidFill>
                  <a:srgbClr val="1C2420"/>
                </a:solidFill>
              </a:defRPr>
            </a:pPr>
            <a:r>
              <a:t>  Tekan F12 di browser, lalu klik ikon HP (Toggle Device Toolbar).</a:t>
            </a:r>
          </a:p>
          <a:p>
            <a:pPr>
              <a:spcAft>
                <a:spcPts val="600"/>
              </a:spcAft>
              <a:defRPr sz="1200">
                <a:solidFill>
                  <a:srgbClr val="1C2420"/>
                </a:solidFill>
              </a:defRPr>
            </a:pPr>
          </a:p>
          <a:p>
            <a:pPr>
              <a:spcAft>
                <a:spcPts val="600"/>
              </a:spcAft>
              <a:defRPr sz="1200">
                <a:solidFill>
                  <a:srgbClr val="1C2420"/>
                </a:solidFill>
              </a:defRPr>
            </a:pPr>
            <a:r>
              <a:t>• Tekan CTRL + C di jendela CMD untuk menghentikan server.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F4E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828800" y="1371600"/>
            <a:ext cx="8534095" cy="4114800"/>
          </a:xfrm>
          <a:prstGeom prst="roundRect">
            <a:avLst/>
          </a:prstGeom>
          <a:solidFill>
            <a:srgbClr val="202A22"/>
          </a:solidFill>
          <a:ln w="25400">
            <a:solidFill>
              <a:srgbClr val="C2A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0" y="1828800"/>
            <a:ext cx="7619695" cy="3200400"/>
          </a:xfrm>
          <a:prstGeom prst="rect">
            <a:avLst/>
          </a:prstGeom>
          <a:noFill/>
        </p:spPr>
        <p:txBody>
          <a:bodyPr wrap="square">
            <a:spAutoFit/>
          </a:bodyPr>
          <a:lstStyle/>
          <a:p>
            <a:pPr algn="ctr">
              <a:defRPr sz="3400" b="1">
                <a:solidFill>
                  <a:srgbClr val="FFFFFF"/>
                </a:solidFill>
              </a:defRPr>
            </a:pPr>
            <a:r>
              <a:t>TERIMA KASIH</a:t>
            </a:r>
          </a:p>
          <a:p>
            <a:pPr>
              <a:spcAft>
                <a:spcPts val="800"/>
              </a:spcAft>
            </a:pPr>
          </a:p>
          <a:p>
            <a:pPr algn="ctr">
              <a:spcAft>
                <a:spcPts val="2400"/>
              </a:spcAft>
              <a:defRPr sz="1400">
                <a:solidFill>
                  <a:srgbClr val="C8D2CA"/>
                </a:solidFill>
              </a:defRPr>
            </a:pPr>
            <a:r>
              <a:t>Website undangan ini dibuat menggunakan HTML, CSS, JavaScript, dan PHP Native tanpa framework berat. Ringan, cepat, dan mudah dijalankan.</a:t>
            </a:r>
          </a:p>
          <a:p>
            <a:pPr algn="ctr">
              <a:defRPr sz="1500" b="1">
                <a:solidFill>
                  <a:srgbClr val="C2A676"/>
                </a:solidFill>
              </a:defRPr>
            </a:pPr>
            <a:r>
              <a:t>Ada Pertanyaan?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